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80">
          <p15:clr>
            <a:srgbClr val="747775"/>
          </p15:clr>
        </p15:guide>
        <p15:guide id="2" orient="horz" pos="567">
          <p15:clr>
            <a:srgbClr val="747775"/>
          </p15:clr>
        </p15:guide>
        <p15:guide id="3" orient="horz" pos="288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80"/>
        <p:guide pos="567" orient="horz"/>
        <p:guide pos="288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6e15c424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6e15c424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6cecaa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6cecaa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6e15c424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6e15c424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6e15c424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6e15c424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e15c424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6e15c424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6e15c424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6e15c424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6e15c424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6e15c424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6e15c424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6e15c424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6e15c4241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6e15c4241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e15c4241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6e15c4241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6e15c4241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6e15c4241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6e15c4241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6e15c4241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6e15c4241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96e15c4241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720X7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636" y="0"/>
            <a:ext cx="9417636" cy="52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-273625" y="75"/>
            <a:ext cx="7238100" cy="51435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256825" y="900000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rgbClr val="FFFFFF"/>
                </a:solidFill>
              </a:rPr>
              <a:t>Faceplate</a:t>
            </a:r>
            <a:endParaRPr b="1" sz="39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56825" y="1685100"/>
            <a:ext cx="41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8C8D2"/>
                </a:solidFill>
              </a:rPr>
              <a:t>Transformando uma câmera comum em uma solução </a:t>
            </a:r>
            <a:r>
              <a:rPr b="1" lang="pt-BR" sz="1800">
                <a:solidFill>
                  <a:srgbClr val="4292ED"/>
                </a:solidFill>
              </a:rPr>
              <a:t>LPR inteligente</a:t>
            </a:r>
            <a:endParaRPr b="1" sz="1800">
              <a:solidFill>
                <a:srgbClr val="4292ED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080000" y="4113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292ED"/>
                </a:solidFill>
              </a:rPr>
              <a:t>Projeto de TCC • 2026</a:t>
            </a:r>
            <a:endParaRPr b="1" sz="1800">
              <a:solidFill>
                <a:srgbClr val="4292ED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076000" y="934100"/>
            <a:ext cx="59100" cy="1218000"/>
          </a:xfrm>
          <a:prstGeom prst="roundRect">
            <a:avLst>
              <a:gd fmla="val 16667" name="adj"/>
            </a:avLst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1080000" y="911824"/>
            <a:ext cx="6231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Integrantes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229700" y="1430525"/>
            <a:ext cx="674100" cy="58500"/>
          </a:xfrm>
          <a:prstGeom prst="rect">
            <a:avLst/>
          </a:prstGeom>
          <a:solidFill>
            <a:srgbClr val="ED42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11825" y="5014075"/>
            <a:ext cx="9144000" cy="58500"/>
          </a:xfrm>
          <a:prstGeom prst="rect">
            <a:avLst/>
          </a:prstGeom>
          <a:gradFill>
            <a:gsLst>
              <a:gs pos="0">
                <a:srgbClr val="ED4242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1080000" y="17655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Felipe dos Santos Rosa</a:t>
            </a:r>
            <a:endParaRPr b="1" sz="1350">
              <a:solidFill>
                <a:srgbClr val="0A0A0C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080000" y="218545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1350">
                <a:solidFill>
                  <a:srgbClr val="0A0A0C"/>
                </a:solidFill>
              </a:rPr>
              <a:t>Guilherme Severino Bezerra</a:t>
            </a:r>
            <a:endParaRPr b="1" sz="1350">
              <a:solidFill>
                <a:srgbClr val="0A0A0C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080000" y="257785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Matheus Ribeiro Fernandes</a:t>
            </a:r>
            <a:endParaRPr b="1" sz="1350">
              <a:solidFill>
                <a:srgbClr val="0A0A0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080000" y="297025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Rhuan Henrique Garcia </a:t>
            </a:r>
            <a:endParaRPr b="1" sz="1350">
              <a:solidFill>
                <a:srgbClr val="0A0A0C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080000" y="339017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Vinícius Silva de Jesus</a:t>
            </a:r>
            <a:endParaRPr b="1" sz="1350">
              <a:solidFill>
                <a:srgbClr val="0A0A0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1080000" y="911824"/>
            <a:ext cx="6231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O cenário atual e seus problemas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229700" y="1903675"/>
            <a:ext cx="2352900" cy="21876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1336125" y="2400300"/>
            <a:ext cx="2163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Alto Custo e Infraestrutura</a:t>
            </a:r>
            <a:endParaRPr b="1" sz="13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0505A"/>
                </a:solidFill>
              </a:rPr>
              <a:t>Câmeras LPR dedicadas são caras e exigem infraestrutura e cabeamento específicos, inviabilizando projetos menores.</a:t>
            </a:r>
            <a:endParaRPr sz="1150">
              <a:solidFill>
                <a:srgbClr val="50505A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866500" y="1903675"/>
            <a:ext cx="2352900" cy="21876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978775" y="2431200"/>
            <a:ext cx="21639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Recursos Ociosos</a:t>
            </a:r>
            <a:endParaRPr b="1" sz="13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0505A"/>
                </a:solidFill>
              </a:rPr>
              <a:t>Muitos ambientes já possuem câmeras IP de vigilância, mas que não realizam nenhum reconhecimento inteligente de placas.</a:t>
            </a:r>
            <a:endParaRPr sz="1150">
              <a:solidFill>
                <a:srgbClr val="50505A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491475" y="1903675"/>
            <a:ext cx="2352900" cy="21876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6585975" y="2431200"/>
            <a:ext cx="21639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Processos Manuais</a:t>
            </a:r>
            <a:endParaRPr b="1" sz="13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50505A"/>
                </a:solidFill>
              </a:rPr>
              <a:t>Anotações manuais por seguranças geram filas na portaria, falhas humanas e péssima rastreabilidade de acessos.</a:t>
            </a:r>
            <a:endParaRPr sz="1150">
              <a:solidFill>
                <a:srgbClr val="50505A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229700" y="1430525"/>
            <a:ext cx="674100" cy="58500"/>
          </a:xfrm>
          <a:prstGeom prst="rect">
            <a:avLst/>
          </a:prstGeom>
          <a:solidFill>
            <a:srgbClr val="ED42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11825" y="5014075"/>
            <a:ext cx="9144000" cy="58500"/>
          </a:xfrm>
          <a:prstGeom prst="rect">
            <a:avLst/>
          </a:prstGeom>
          <a:gradFill>
            <a:gsLst>
              <a:gs pos="0">
                <a:srgbClr val="ED4242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650" y="2069350"/>
            <a:ext cx="361850" cy="3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5848" y="2069350"/>
            <a:ext cx="361850" cy="3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0175" y="2069350"/>
            <a:ext cx="361850" cy="3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10796" l="0" r="0" t="10804"/>
          <a:stretch/>
        </p:blipFill>
        <p:spPr>
          <a:xfrm>
            <a:off x="5465700" y="0"/>
            <a:ext cx="36783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5465825" y="4700"/>
            <a:ext cx="3678300" cy="51435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1091825" y="900000"/>
            <a:ext cx="5273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A solução Faceplate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091825" y="1305575"/>
            <a:ext cx="5435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50505A"/>
                </a:solidFill>
              </a:rPr>
              <a:t>Obtenha funções típicas de LPR combinando uma câmera RTSP comum com processamento em edge hardware.</a:t>
            </a:r>
            <a:endParaRPr sz="1350">
              <a:solidFill>
                <a:srgbClr val="50505A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05050" y="1905875"/>
            <a:ext cx="5521800" cy="7818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1129100" y="1950425"/>
            <a:ext cx="5273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A0A0C"/>
                </a:solidFill>
              </a:rPr>
              <a:t>Reaproveitamento de Câmeras</a:t>
            </a:r>
            <a:endParaRPr b="1" sz="120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Conecta-se a qualquer câmera IP existente via protocolo RTSP, zerando custos de infraestrutura dedicada.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091825" y="2829288"/>
            <a:ext cx="5273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A0A0C"/>
                </a:solidFill>
              </a:rPr>
              <a:t>Automação Local (Edge Computing)</a:t>
            </a:r>
            <a:endParaRPr b="1" sz="120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Processamento no local elimina latência de nuvem e garante operação rápida para liberação de cancelas.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129100" y="3752725"/>
            <a:ext cx="5273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0A0A0C"/>
                </a:solidFill>
              </a:rPr>
              <a:t>Gestão Integrada via Portal</a:t>
            </a:r>
            <a:endParaRPr b="1" sz="120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Plataforma unificada para listas de acesso, usuários, auditoria e consulta rápida de eventos.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 flipH="1">
            <a:off x="1029725" y="1905875"/>
            <a:ext cx="62100" cy="781800"/>
          </a:xfrm>
          <a:prstGeom prst="rect">
            <a:avLst/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005050" y="2784750"/>
            <a:ext cx="5521800" cy="7818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005050" y="3708175"/>
            <a:ext cx="5521800" cy="7818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 flipH="1">
            <a:off x="1005050" y="2807025"/>
            <a:ext cx="62100" cy="781800"/>
          </a:xfrm>
          <a:prstGeom prst="rect">
            <a:avLst/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 flipH="1">
            <a:off x="1005050" y="3708175"/>
            <a:ext cx="62100" cy="781800"/>
          </a:xfrm>
          <a:prstGeom prst="rect">
            <a:avLst/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1080000" y="900000"/>
            <a:ext cx="5663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Arquitetura do Sistema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1080000" y="1477200"/>
            <a:ext cx="2244000" cy="14190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1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1510350" y="1732650"/>
            <a:ext cx="1383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4292ED"/>
                </a:solidFill>
              </a:rPr>
              <a:t>Câmera IP</a:t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50505A"/>
                </a:solidFill>
              </a:rPr>
              <a:t>Stream via RTSP direto do ambiente</a:t>
            </a:r>
            <a:endParaRPr sz="1000">
              <a:solidFill>
                <a:srgbClr val="50505A"/>
              </a:solidFill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5127350" y="2705650"/>
            <a:ext cx="2244000" cy="14190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1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153800" y="3239925"/>
            <a:ext cx="2244000" cy="1419000"/>
          </a:xfrm>
          <a:prstGeom prst="hexagon">
            <a:avLst>
              <a:gd fmla="val 28852" name="adj"/>
              <a:gd fmla="val 115470" name="vf"/>
            </a:avLst>
          </a:prstGeom>
          <a:solidFill>
            <a:schemeClr val="lt1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3153800" y="1820925"/>
            <a:ext cx="2244000" cy="1419000"/>
          </a:xfrm>
          <a:prstGeom prst="hexagon">
            <a:avLst>
              <a:gd fmla="val 28852" name="adj"/>
              <a:gd fmla="val 115470" name="vf"/>
            </a:avLst>
          </a:prstGeom>
          <a:solidFill>
            <a:srgbClr val="1F1F1F"/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3584150" y="1895475"/>
            <a:ext cx="1383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FFFFFF"/>
                </a:solidFill>
              </a:rPr>
              <a:t>Edge Hardware</a:t>
            </a:r>
            <a:endParaRPr b="1" sz="135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8C8D2"/>
                </a:solidFill>
              </a:rPr>
              <a:t>Backend Python local: processamento de imagem + OCR</a:t>
            </a:r>
            <a:endParaRPr sz="1000">
              <a:solidFill>
                <a:srgbClr val="C8C8D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557700" y="2857150"/>
            <a:ext cx="13833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4292ED"/>
                </a:solidFill>
              </a:rPr>
              <a:t>Banco de Dados</a:t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50505A"/>
                </a:solidFill>
              </a:rPr>
              <a:t>Veículos, usuários, permissões e logs</a:t>
            </a:r>
            <a:endParaRPr sz="1000">
              <a:solidFill>
                <a:srgbClr val="50505A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3520700" y="3418425"/>
            <a:ext cx="15102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4292ED"/>
                </a:solidFill>
              </a:rPr>
              <a:t>Portal Web</a:t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50505A"/>
                </a:solidFill>
              </a:rPr>
              <a:t>Frontend Next.js p/ gestão de acesso e cadastros</a:t>
            </a:r>
            <a:endParaRPr sz="1000">
              <a:solidFill>
                <a:srgbClr val="50505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1014900" y="322800"/>
            <a:ext cx="7114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FFFFFF"/>
                </a:solidFill>
              </a:rPr>
              <a:t>Pipeline de Reconhecimento em Tempo Real</a:t>
            </a:r>
            <a:endParaRPr b="1" sz="2550">
              <a:solidFill>
                <a:srgbClr val="FFFFFF"/>
              </a:solidFill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135125" y="1300650"/>
            <a:ext cx="2022000" cy="112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1255425" y="1431300"/>
            <a:ext cx="178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4292ED"/>
                </a:solidFill>
              </a:rPr>
              <a:t>1. Câmera RTSP</a:t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8C8D2"/>
                </a:solidFill>
              </a:rPr>
              <a:t>Conexão direta com stream de vídeo padrão</a:t>
            </a:r>
            <a:endParaRPr sz="1000">
              <a:solidFill>
                <a:srgbClr val="C8C8D2"/>
              </a:solidFill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328600" y="1773625"/>
            <a:ext cx="366600" cy="16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866675" y="1318525"/>
            <a:ext cx="2022000" cy="112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3972875" y="1425475"/>
            <a:ext cx="178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4292ED"/>
                </a:solidFill>
              </a:rPr>
              <a:t>2. FFmpeg</a:t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8C8D2"/>
                </a:solidFill>
              </a:rPr>
              <a:t>Captura de frames com controle de amostragem</a:t>
            </a:r>
            <a:endParaRPr sz="1000">
              <a:solidFill>
                <a:srgbClr val="C8C8D2"/>
              </a:solidFill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060150" y="1773625"/>
            <a:ext cx="366600" cy="16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598225" y="1318525"/>
            <a:ext cx="2022000" cy="112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6732625" y="1425475"/>
            <a:ext cx="178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4292ED"/>
                </a:solidFill>
              </a:rPr>
              <a:t>3. Detecção Veículo</a:t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8C8D2"/>
                </a:solidFill>
              </a:rPr>
              <a:t>Modelo Hugging Face identifica carro no frame</a:t>
            </a:r>
            <a:endParaRPr sz="1000">
              <a:solidFill>
                <a:srgbClr val="C8C8D2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 rot="5400000">
            <a:off x="7425925" y="2718250"/>
            <a:ext cx="366600" cy="16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612325" y="3160375"/>
            <a:ext cx="2022000" cy="112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6739675" y="3291025"/>
            <a:ext cx="1767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648CE6"/>
                </a:solidFill>
              </a:rPr>
              <a:t>4. Recorte da Placa</a:t>
            </a:r>
            <a:endParaRPr b="1" sz="1200">
              <a:solidFill>
                <a:srgbClr val="648CE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648CE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8C8D2"/>
                </a:solidFill>
              </a:rPr>
              <a:t>Modelo restringe a área exata da placa (Crop)</a:t>
            </a:r>
            <a:endParaRPr sz="1000">
              <a:solidFill>
                <a:srgbClr val="C8C8D2"/>
              </a:solidFill>
            </a:endParaRPr>
          </a:p>
        </p:txBody>
      </p:sp>
      <p:sp>
        <p:nvSpPr>
          <p:cNvPr id="134" name="Google Shape;134;p18"/>
          <p:cNvSpPr/>
          <p:nvPr/>
        </p:nvSpPr>
        <p:spPr>
          <a:xfrm rot="10800000">
            <a:off x="6060150" y="3639175"/>
            <a:ext cx="366600" cy="16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866675" y="3160375"/>
            <a:ext cx="2022000" cy="112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3986975" y="3291025"/>
            <a:ext cx="178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4292ED"/>
                </a:solidFill>
              </a:rPr>
              <a:t>5. PaddleOCR</a:t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B464B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8C8D2"/>
                </a:solidFill>
              </a:rPr>
              <a:t>Extração dos caracteres do recorte da placa</a:t>
            </a:r>
            <a:endParaRPr sz="1000">
              <a:solidFill>
                <a:srgbClr val="C8C8D2"/>
              </a:solidFill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135125" y="3160375"/>
            <a:ext cx="2022000" cy="112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1255425" y="3291025"/>
            <a:ext cx="178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4292ED"/>
                </a:solidFill>
              </a:rPr>
              <a:t>6. Validação</a:t>
            </a:r>
            <a:endParaRPr b="1" sz="1200">
              <a:solidFill>
                <a:srgbClr val="4292E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D42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8C8D2"/>
                </a:solidFill>
              </a:rPr>
              <a:t>Consulta no banco e gera evento (Permitido/Negado)</a:t>
            </a:r>
            <a:endParaRPr sz="1000">
              <a:solidFill>
                <a:srgbClr val="C8C8D2"/>
              </a:solidFill>
            </a:endParaRPr>
          </a:p>
        </p:txBody>
      </p:sp>
      <p:sp>
        <p:nvSpPr>
          <p:cNvPr id="139" name="Google Shape;139;p18"/>
          <p:cNvSpPr/>
          <p:nvPr/>
        </p:nvSpPr>
        <p:spPr>
          <a:xfrm rot="10800000">
            <a:off x="3328600" y="3591875"/>
            <a:ext cx="366600" cy="16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1080000" y="900000"/>
            <a:ext cx="6278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Inteligência Artificial (Backend)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1080000" y="1477200"/>
            <a:ext cx="380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282830"/>
                </a:solidFill>
              </a:rPr>
              <a:t>O coração do Faceplate é desenvolvido em </a:t>
            </a:r>
            <a:r>
              <a:rPr b="1" lang="pt-BR" sz="1350">
                <a:solidFill>
                  <a:srgbClr val="4292ED"/>
                </a:solidFill>
              </a:rPr>
              <a:t>Python</a:t>
            </a:r>
            <a:r>
              <a:rPr lang="pt-BR" sz="1350">
                <a:solidFill>
                  <a:srgbClr val="282830"/>
                </a:solidFill>
              </a:rPr>
              <a:t>, responsável por orquestrar todo o pipeline em tempo real de forma eficiente em hardware local.</a:t>
            </a:r>
            <a:endParaRPr sz="1350">
              <a:solidFill>
                <a:srgbClr val="282830"/>
              </a:solidFill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1371600" y="2493000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A0A0C"/>
                </a:solidFill>
              </a:rPr>
              <a:t>Arquitetura Pluggable</a:t>
            </a:r>
            <a:endParaRPr b="1" sz="150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50505A"/>
                </a:solidFill>
              </a:rPr>
              <a:t>Estrutura pensada para permitir a troca de modelos sem a necessidade de reescrever todo o sistema.</a:t>
            </a:r>
            <a:endParaRPr sz="1200">
              <a:solidFill>
                <a:srgbClr val="50505A"/>
              </a:solidFill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174575" y="2577650"/>
            <a:ext cx="47400" cy="577200"/>
          </a:xfrm>
          <a:prstGeom prst="rect">
            <a:avLst/>
          </a:prstGeom>
          <a:solidFill>
            <a:srgbClr val="ED42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5001600" y="1548150"/>
            <a:ext cx="3653700" cy="11775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5655300" y="1548150"/>
            <a:ext cx="30000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50">
                <a:solidFill>
                  <a:srgbClr val="4292ED"/>
                </a:solidFill>
              </a:rPr>
              <a:t>Modelos Hugging Face</a:t>
            </a:r>
            <a:endParaRPr b="1" sz="1650">
              <a:solidFill>
                <a:srgbClr val="4292E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50505A"/>
                </a:solidFill>
              </a:rPr>
              <a:t>Modelos de IA de código aberto (gratuitos) para a etapa de visão computacional: localização do veículo no frame e recorte preciso da área da placa.</a:t>
            </a:r>
            <a:endParaRPr sz="1200">
              <a:solidFill>
                <a:srgbClr val="50505A"/>
              </a:solidFill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001600" y="2965725"/>
            <a:ext cx="3653700" cy="13194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655300" y="2944275"/>
            <a:ext cx="30000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50">
                <a:solidFill>
                  <a:srgbClr val="ED4242"/>
                </a:solidFill>
              </a:rPr>
              <a:t>PaddleOCR</a:t>
            </a:r>
            <a:endParaRPr b="1" sz="1650">
              <a:solidFill>
                <a:srgbClr val="ED42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50505A"/>
                </a:solidFill>
              </a:rPr>
              <a:t>Ferramenta de Optical Character Recognition de alta performance. Extrai os caracteres alfanuméricos da imagem recortada, superando oclusões ou baixa luz.</a:t>
            </a:r>
            <a:endParaRPr sz="1200">
              <a:solidFill>
                <a:srgbClr val="50505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2934300" y="322800"/>
            <a:ext cx="3275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Integração de Vídeo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2017950" y="900000"/>
            <a:ext cx="510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50505A"/>
                </a:solidFill>
              </a:rPr>
              <a:t>Equilíbrio entre precisão de leitura e consumo do hardware local</a:t>
            </a:r>
            <a:endParaRPr sz="1350">
              <a:solidFill>
                <a:srgbClr val="50505A"/>
              </a:solidFill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1572600" y="2199300"/>
            <a:ext cx="2223000" cy="1261500"/>
          </a:xfrm>
          <a:prstGeom prst="rect">
            <a:avLst/>
          </a:prstGeom>
          <a:noFill/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1655400" y="2345250"/>
            <a:ext cx="2057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A0A0C"/>
                </a:solidFill>
              </a:rPr>
              <a:t>Stream RTSP</a:t>
            </a:r>
            <a:endParaRPr b="1" sz="1500">
              <a:solidFill>
                <a:srgbClr val="0A0A0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A0A0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Câmera IP transmite vídeo bruto continuamente pela rede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6442875" y="2199300"/>
            <a:ext cx="2223000" cy="1261500"/>
          </a:xfrm>
          <a:prstGeom prst="rect">
            <a:avLst/>
          </a:prstGeom>
          <a:noFill/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007750" y="1844575"/>
            <a:ext cx="2223000" cy="1470300"/>
          </a:xfrm>
          <a:prstGeom prst="rect">
            <a:avLst/>
          </a:prstGeom>
          <a:solidFill>
            <a:srgbClr val="0A0A0C"/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090525" y="1983000"/>
            <a:ext cx="20574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50">
                <a:solidFill>
                  <a:srgbClr val="FFFFFF"/>
                </a:solidFill>
              </a:rPr>
              <a:t>Motor FFmpeg</a:t>
            </a:r>
            <a:endParaRPr b="1" sz="165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8C8D2"/>
                </a:solidFill>
              </a:rPr>
              <a:t>Consome o stream, decodifica o vídeo e controla a taxa de amostragem de quadros</a:t>
            </a:r>
            <a:endParaRPr sz="1050">
              <a:solidFill>
                <a:srgbClr val="C8C8D2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6525700" y="2264400"/>
            <a:ext cx="20574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A0A0C"/>
                </a:solidFill>
              </a:rPr>
              <a:t>Extração de Frames</a:t>
            </a:r>
            <a:endParaRPr b="1" sz="1500">
              <a:solidFill>
                <a:srgbClr val="0A0A0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A0A0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Quadros individuais são enviados para a fila de detecção da IA</a:t>
            </a:r>
            <a:endParaRPr sz="1050">
              <a:solidFill>
                <a:srgbClr val="50505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/>
        </p:nvSpPr>
        <p:spPr>
          <a:xfrm>
            <a:off x="1080000" y="900000"/>
            <a:ext cx="3641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Motor de Validações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080000" y="1477200"/>
            <a:ext cx="7961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50505A"/>
                </a:solidFill>
              </a:rPr>
              <a:t>A placa lida pelo OCR é validada contra uma lista local, atualizada periodicamente.</a:t>
            </a:r>
            <a:endParaRPr sz="1350">
              <a:solidFill>
                <a:srgbClr val="50505A"/>
              </a:solidFill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1076075" y="1964775"/>
            <a:ext cx="2352900" cy="2049600"/>
          </a:xfrm>
          <a:prstGeom prst="rect">
            <a:avLst/>
          </a:prstGeom>
          <a:solidFill>
            <a:srgbClr val="F0FAF5">
              <a:alpha val="43140"/>
            </a:srgbClr>
          </a:solidFill>
          <a:ln cap="flat" cmpd="sng" w="95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1442525" y="2423925"/>
            <a:ext cx="1620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15803D"/>
                </a:solidFill>
              </a:rPr>
              <a:t>Autorizado</a:t>
            </a:r>
            <a:endParaRPr b="1" sz="1500">
              <a:solidFill>
                <a:srgbClr val="1580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580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Placa ativa na base. O sistema gera evento de liberação para cancela.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884400" y="1964775"/>
            <a:ext cx="2352900" cy="2049600"/>
          </a:xfrm>
          <a:prstGeom prst="rect">
            <a:avLst/>
          </a:prstGeom>
          <a:solidFill>
            <a:srgbClr val="FFF0F0">
              <a:alpha val="43140"/>
            </a:srgbClr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4250850" y="2423925"/>
            <a:ext cx="162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B91C1C"/>
                </a:solidFill>
              </a:rPr>
              <a:t>Negado</a:t>
            </a:r>
            <a:endParaRPr b="1" sz="1500">
              <a:solidFill>
                <a:srgbClr val="B91C1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B91C1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Placa não consta na lista, bloqueada ou inativa. Acesso bloqueado.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6692725" y="1964775"/>
            <a:ext cx="2352900" cy="2049600"/>
          </a:xfrm>
          <a:prstGeom prst="rect">
            <a:avLst/>
          </a:prstGeom>
          <a:solidFill>
            <a:srgbClr val="FFF8F6">
              <a:alpha val="43140"/>
            </a:srgbClr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7059175" y="2423925"/>
            <a:ext cx="162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B45309"/>
                </a:solidFill>
              </a:rPr>
              <a:t>Revisão</a:t>
            </a:r>
            <a:endParaRPr b="1" sz="1500">
              <a:solidFill>
                <a:srgbClr val="B4530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B4530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OCR com baixa confiança (oclusão, placa suja). Dispara alerta manual.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2166900" y="4109550"/>
            <a:ext cx="5787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50505A"/>
                </a:solidFill>
              </a:rPr>
              <a:t>Histórico é registrado localmente para rastreabilidade (logs) de todos os três cenários.</a:t>
            </a:r>
            <a:endParaRPr b="1" sz="1050">
              <a:solidFill>
                <a:srgbClr val="50505A"/>
              </a:solidFill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1080000" y="1418700"/>
            <a:ext cx="674100" cy="58500"/>
          </a:xfrm>
          <a:prstGeom prst="rect">
            <a:avLst/>
          </a:prstGeom>
          <a:solidFill>
            <a:srgbClr val="ED42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1" title="cor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336" y="2085050"/>
            <a:ext cx="392380" cy="39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title="botao-fech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650" y="2085050"/>
            <a:ext cx="392399" cy="39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title="alert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72975" y="2085050"/>
            <a:ext cx="392401" cy="39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/>
        </p:nvSpPr>
        <p:spPr>
          <a:xfrm>
            <a:off x="1080000" y="900000"/>
            <a:ext cx="3488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Portal Web (Next.js)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080000" y="1418700"/>
            <a:ext cx="674100" cy="5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080000" y="1477200"/>
            <a:ext cx="348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50505A"/>
                </a:solidFill>
              </a:rPr>
              <a:t>A interface central (Frontend) que alimenta o banco de dados e fornece gestão completa da operação do Faceplate.</a:t>
            </a:r>
            <a:endParaRPr sz="1200">
              <a:solidFill>
                <a:srgbClr val="50505A"/>
              </a:solidFill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1080000" y="2216100"/>
            <a:ext cx="3488100" cy="7389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568100" y="232770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0A0A0C"/>
                </a:solidFill>
              </a:rPr>
              <a:t>Gestão de Veículos</a:t>
            </a:r>
            <a:endParaRPr b="1" sz="11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50505A"/>
                </a:solidFill>
              </a:rPr>
              <a:t>Adição e remoção da lista de autorizados</a:t>
            </a:r>
            <a:endParaRPr sz="1000">
              <a:solidFill>
                <a:srgbClr val="50505A"/>
              </a:solidFill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080000" y="3050425"/>
            <a:ext cx="3488100" cy="7389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568100" y="3162025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0A0A0C"/>
                </a:solidFill>
              </a:rPr>
              <a:t>Gestão de Usuários</a:t>
            </a:r>
            <a:endParaRPr b="1" sz="11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50505A"/>
                </a:solidFill>
              </a:rPr>
              <a:t>Controle de quem pode cadastrar acessos</a:t>
            </a:r>
            <a:endParaRPr sz="1000">
              <a:solidFill>
                <a:srgbClr val="50505A"/>
              </a:solidFill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1080000" y="3884750"/>
            <a:ext cx="3488100" cy="7389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1568100" y="3996350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0A0A0C"/>
                </a:solidFill>
              </a:rPr>
              <a:t>Operação Diária</a:t>
            </a:r>
            <a:endParaRPr b="1" sz="11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50505A"/>
                </a:solidFill>
              </a:rPr>
              <a:t>Interface pensada para uso contínuo (portaria)</a:t>
            </a:r>
            <a:endParaRPr sz="1000">
              <a:solidFill>
                <a:srgbClr val="50505A"/>
              </a:solidFill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550" y="2398775"/>
            <a:ext cx="373550" cy="37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550" y="3233100"/>
            <a:ext cx="373550" cy="37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4550" y="4067425"/>
            <a:ext cx="373550" cy="37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/>
          <p:nvPr/>
        </p:nvSpPr>
        <p:spPr>
          <a:xfrm rot="-1615517">
            <a:off x="3769774" y="3745481"/>
            <a:ext cx="6295103" cy="515736"/>
          </a:xfrm>
          <a:prstGeom prst="rect">
            <a:avLst/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 rot="-1615503">
            <a:off x="4311101" y="4111181"/>
            <a:ext cx="5722748" cy="515736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 rot="-1615573">
            <a:off x="5048915" y="4477107"/>
            <a:ext cx="4661221" cy="515736"/>
          </a:xfrm>
          <a:prstGeom prst="rect">
            <a:avLst/>
          </a:prstGeom>
          <a:solidFill>
            <a:srgbClr val="ED4242"/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2" title="logo 1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1909" y="-165050"/>
            <a:ext cx="36918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/>
        </p:nvSpPr>
        <p:spPr>
          <a:xfrm>
            <a:off x="1080000" y="900000"/>
            <a:ext cx="3523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Perfis e Governança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1080000" y="1418700"/>
            <a:ext cx="674100" cy="5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1080000" y="1631750"/>
            <a:ext cx="5269500" cy="685800"/>
          </a:xfrm>
          <a:prstGeom prst="rect">
            <a:avLst/>
          </a:prstGeom>
          <a:solidFill>
            <a:srgbClr val="0A0A0C"/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2128350" y="1616750"/>
            <a:ext cx="4221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ED4242"/>
                </a:solidFill>
              </a:rPr>
              <a:t>Administrador</a:t>
            </a:r>
            <a:endParaRPr b="1" sz="1350">
              <a:solidFill>
                <a:srgbClr val="ED42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8C8D2"/>
                </a:solidFill>
              </a:rPr>
              <a:t>Controle total: regras do sistema, acessos globais, manutenção e auditoria completa.</a:t>
            </a:r>
            <a:endParaRPr sz="1050">
              <a:solidFill>
                <a:srgbClr val="C8C8D2"/>
              </a:solidFill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1080000" y="2672275"/>
            <a:ext cx="5269500" cy="715800"/>
          </a:xfrm>
          <a:prstGeom prst="rect">
            <a:avLst/>
          </a:prstGeom>
          <a:noFill/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2128350" y="2672275"/>
            <a:ext cx="4221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4292ED"/>
                </a:solidFill>
              </a:rPr>
              <a:t>Supervisor / Gestor</a:t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Aprova cadastros de veículos e gerencia os usuários habilitados (portaria).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080000" y="3727800"/>
            <a:ext cx="5269500" cy="7158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2128350" y="3727800"/>
            <a:ext cx="4221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0A0A0C"/>
                </a:solidFill>
              </a:rPr>
              <a:t>Usuário Comum</a:t>
            </a:r>
            <a:endParaRPr b="1" sz="1350">
              <a:solidFill>
                <a:srgbClr val="0A0A0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50505A"/>
                </a:solidFill>
              </a:rPr>
              <a:t>Realiza a consulta básica e submete novos veículos ou autorizações no portal.</a:t>
            </a:r>
            <a:endParaRPr sz="1050">
              <a:solidFill>
                <a:srgbClr val="50505A"/>
              </a:solidFill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6526850" y="2223100"/>
            <a:ext cx="25272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282830"/>
                </a:solidFill>
              </a:rPr>
              <a:t>A arquitetura baseada em </a:t>
            </a:r>
            <a:r>
              <a:rPr b="1" lang="pt-BR" sz="1350">
                <a:solidFill>
                  <a:srgbClr val="0A0A0C"/>
                </a:solidFill>
              </a:rPr>
              <a:t>Roles (RBAC)</a:t>
            </a:r>
            <a:r>
              <a:rPr lang="pt-BR" sz="1350">
                <a:solidFill>
                  <a:srgbClr val="282830"/>
                </a:solidFill>
              </a:rPr>
              <a:t> garante segurança da informação e impede falhas de processo manual na portaria.</a:t>
            </a:r>
            <a:endParaRPr sz="1350">
              <a:solidFill>
                <a:srgbClr val="282830"/>
              </a:solidFill>
            </a:endParaRPr>
          </a:p>
        </p:txBody>
      </p:sp>
      <p:pic>
        <p:nvPicPr>
          <p:cNvPr id="214" name="Google Shape;214;p23" title="super-hero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000" y="1723325"/>
            <a:ext cx="502650" cy="5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000" y="3834375"/>
            <a:ext cx="502650" cy="5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0000" y="2771341"/>
            <a:ext cx="502650" cy="5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/>
        </p:nvSpPr>
        <p:spPr>
          <a:xfrm>
            <a:off x="3469500" y="900000"/>
            <a:ext cx="3285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chemeClr val="lt1"/>
                </a:solidFill>
              </a:rPr>
              <a:t>Portal Web (Next.js)</a:t>
            </a:r>
            <a:endParaRPr b="1" sz="2550">
              <a:solidFill>
                <a:schemeClr val="lt1"/>
              </a:solidFill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1162775" y="1749975"/>
            <a:ext cx="2479200" cy="199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4774950" y="1418700"/>
            <a:ext cx="674100" cy="58500"/>
          </a:xfrm>
          <a:prstGeom prst="rect">
            <a:avLst/>
          </a:prstGeom>
          <a:solidFill>
            <a:srgbClr val="ED42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1302725" y="2257875"/>
            <a:ext cx="21993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4292ED"/>
                </a:solidFill>
              </a:rPr>
              <a:t>Histórico de Eventos</a:t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C8C8D2"/>
                </a:solidFill>
              </a:rPr>
              <a:t>Cada leitura gera um log com data, hora, placa extraída, status (permitido/negado) e a câmera de origem.</a:t>
            </a:r>
            <a:endParaRPr sz="1150">
              <a:solidFill>
                <a:srgbClr val="C8C8D2"/>
              </a:solidFill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3872400" y="1749975"/>
            <a:ext cx="2479200" cy="199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6582025" y="1749975"/>
            <a:ext cx="2479200" cy="1993200"/>
          </a:xfrm>
          <a:prstGeom prst="rect">
            <a:avLst/>
          </a:prstGeom>
          <a:solidFill>
            <a:srgbClr val="191919"/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4012350" y="2257875"/>
            <a:ext cx="21993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4292ED"/>
                </a:solidFill>
              </a:rPr>
              <a:t>Relatórios Gerenciais</a:t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292E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C8C8D2"/>
                </a:solidFill>
              </a:rPr>
              <a:t>Dashboards para acompanhar volume de acessos no período, placas não autorizadas mais frequentes e gargalos.</a:t>
            </a:r>
            <a:endParaRPr sz="1150">
              <a:solidFill>
                <a:srgbClr val="C8C8D2"/>
              </a:solidFill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721975" y="2257875"/>
            <a:ext cx="21993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ED4242"/>
                </a:solidFill>
              </a:rPr>
              <a:t>Alertas (Opcional)</a:t>
            </a:r>
            <a:endParaRPr b="1" sz="1350">
              <a:solidFill>
                <a:srgbClr val="ED42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ED42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rgbClr val="C8C8D2"/>
                </a:solidFill>
              </a:rPr>
              <a:t>Eventos críticos (acesso forçado, lista negra) podem disparar notificações imediatas para a equipe de segurança.</a:t>
            </a:r>
            <a:endParaRPr sz="1150">
              <a:solidFill>
                <a:srgbClr val="C8C8D2"/>
              </a:solidFill>
            </a:endParaRPr>
          </a:p>
        </p:txBody>
      </p:sp>
      <p:pic>
        <p:nvPicPr>
          <p:cNvPr id="229" name="Google Shape;229;p24" title="histor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200" y="1896900"/>
            <a:ext cx="360975" cy="3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 title="informacao-financeir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1600" y="1896900"/>
            <a:ext cx="360975" cy="3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 title="alert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5000" y="1849275"/>
            <a:ext cx="360975" cy="360975"/>
          </a:xfrm>
          <a:prstGeom prst="rect">
            <a:avLst/>
          </a:prstGeom>
          <a:solidFill>
            <a:srgbClr val="191919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/>
        </p:nvSpPr>
        <p:spPr>
          <a:xfrm>
            <a:off x="3425100" y="322800"/>
            <a:ext cx="3228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50">
                <a:solidFill>
                  <a:srgbClr val="0A0A0C"/>
                </a:solidFill>
              </a:rPr>
              <a:t>Por que Faceplate?</a:t>
            </a:r>
            <a:endParaRPr b="1" sz="2550">
              <a:solidFill>
                <a:srgbClr val="0A0A0C"/>
              </a:solidFill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4702050" y="841500"/>
            <a:ext cx="674100" cy="5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1080000" y="1040550"/>
            <a:ext cx="3377700" cy="414000"/>
          </a:xfrm>
          <a:prstGeom prst="rect">
            <a:avLst/>
          </a:prstGeom>
          <a:solidFill>
            <a:srgbClr val="EEEEEE">
              <a:alpha val="43170"/>
            </a:srgbClr>
          </a:solidFill>
          <a:ln cap="flat" cmpd="sng" w="9525">
            <a:solidFill>
              <a:srgbClr val="DADA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5620475" y="1040550"/>
            <a:ext cx="3377700" cy="414000"/>
          </a:xfrm>
          <a:prstGeom prst="rect">
            <a:avLst/>
          </a:prstGeom>
          <a:noFill/>
          <a:ln cap="flat" cmpd="sng" w="9525">
            <a:solidFill>
              <a:srgbClr val="429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4750492" y="958950"/>
            <a:ext cx="577200" cy="577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</a:rPr>
              <a:t>VS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1080000" y="1667225"/>
            <a:ext cx="3377700" cy="507900"/>
          </a:xfrm>
          <a:prstGeom prst="rect">
            <a:avLst/>
          </a:prstGeom>
          <a:solidFill>
            <a:srgbClr val="FFF0F0">
              <a:alpha val="43140"/>
            </a:srgbClr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080000" y="1656350"/>
            <a:ext cx="3377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82830"/>
                </a:solidFill>
              </a:rPr>
              <a:t>Equipamentos caros e infraestrutura dedicada de rede/energia</a:t>
            </a:r>
            <a:endParaRPr sz="1050">
              <a:solidFill>
                <a:srgbClr val="282830"/>
              </a:solidFill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1080000" y="2387800"/>
            <a:ext cx="3377700" cy="507900"/>
          </a:xfrm>
          <a:prstGeom prst="rect">
            <a:avLst/>
          </a:prstGeom>
          <a:solidFill>
            <a:srgbClr val="FFF0F0">
              <a:alpha val="43140"/>
            </a:srgbClr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1080000" y="3108375"/>
            <a:ext cx="3377700" cy="507900"/>
          </a:xfrm>
          <a:prstGeom prst="rect">
            <a:avLst/>
          </a:prstGeom>
          <a:solidFill>
            <a:srgbClr val="FFF0F0">
              <a:alpha val="43140"/>
            </a:srgbClr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1080000" y="3828950"/>
            <a:ext cx="3377700" cy="507900"/>
          </a:xfrm>
          <a:prstGeom prst="rect">
            <a:avLst/>
          </a:prstGeom>
          <a:solidFill>
            <a:srgbClr val="FFF0F0">
              <a:alpha val="43140"/>
            </a:srgbClr>
          </a:solidFill>
          <a:ln cap="flat" cmpd="sng" w="9525">
            <a:solidFill>
              <a:srgbClr val="ED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080000" y="2463213"/>
            <a:ext cx="3377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82830"/>
                </a:solidFill>
              </a:rPr>
              <a:t>Sistemas legados difíceis de atualizar ("caixa preta")</a:t>
            </a:r>
            <a:endParaRPr sz="1050">
              <a:solidFill>
                <a:srgbClr val="282830"/>
              </a:solidFill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1080000" y="3108375"/>
            <a:ext cx="3377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82830"/>
                </a:solidFill>
              </a:rPr>
              <a:t>Interfaces datadas, sem portal centralizado para portaria</a:t>
            </a:r>
            <a:endParaRPr sz="1050">
              <a:solidFill>
                <a:srgbClr val="282830"/>
              </a:solidFill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1080000" y="3828950"/>
            <a:ext cx="3377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82830"/>
                </a:solidFill>
              </a:rPr>
              <a:t>Limitado à leitura pura de OCR sem expansão de regras</a:t>
            </a:r>
            <a:endParaRPr sz="1050">
              <a:solidFill>
                <a:srgbClr val="282830"/>
              </a:solidFill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620475" y="1667225"/>
            <a:ext cx="3377700" cy="5079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5620475" y="2387800"/>
            <a:ext cx="3377700" cy="5079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620475" y="3108375"/>
            <a:ext cx="3377700" cy="5079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5620475" y="3828950"/>
            <a:ext cx="3377700" cy="507900"/>
          </a:xfrm>
          <a:prstGeom prst="rect">
            <a:avLst/>
          </a:prstGeom>
          <a:solidFill>
            <a:srgbClr val="4292ED">
              <a:alpha val="96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050">
                <a:solidFill>
                  <a:srgbClr val="282830"/>
                </a:solidFill>
              </a:rPr>
              <a:t>Pronto p/ adicionar regras de horários, limites e áreas</a:t>
            </a:r>
            <a:endParaRPr b="1" sz="1050">
              <a:solidFill>
                <a:srgbClr val="282830"/>
              </a:solidFill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1080025" y="1060375"/>
            <a:ext cx="3377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50505A"/>
                </a:solidFill>
              </a:rPr>
              <a:t>LPR Tradicional</a:t>
            </a:r>
            <a:endParaRPr b="1" sz="1350">
              <a:solidFill>
                <a:srgbClr val="50505A"/>
              </a:solidFill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5620475" y="1062150"/>
            <a:ext cx="3377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50">
                <a:solidFill>
                  <a:srgbClr val="4292ED"/>
                </a:solidFill>
              </a:rPr>
              <a:t>Faceplate</a:t>
            </a:r>
            <a:endParaRPr b="1" sz="1350">
              <a:solidFill>
                <a:srgbClr val="4292ED"/>
              </a:solidFill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5620475" y="1748075"/>
            <a:ext cx="3377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282830"/>
                </a:solidFill>
              </a:rPr>
              <a:t>Reaproveita câmeras comuns + hardware local</a:t>
            </a:r>
            <a:endParaRPr b="1" sz="1050">
              <a:solidFill>
                <a:srgbClr val="282830"/>
              </a:solidFill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5620475" y="2468650"/>
            <a:ext cx="3377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282830"/>
                </a:solidFill>
              </a:rPr>
              <a:t>Modelos open source plugáveis via Hugging Face</a:t>
            </a:r>
            <a:endParaRPr b="1" sz="1050">
              <a:solidFill>
                <a:srgbClr val="282830"/>
              </a:solidFill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5620475" y="3108375"/>
            <a:ext cx="3377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282830"/>
                </a:solidFill>
              </a:rPr>
              <a:t>Portal Next.js completo com permissões por papéis</a:t>
            </a:r>
            <a:endParaRPr b="1" sz="1050">
              <a:solidFill>
                <a:srgbClr val="282830"/>
              </a:solidFill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4785438" y="1778525"/>
            <a:ext cx="507300" cy="285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</a:rPr>
              <a:t>CUSTO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4785425" y="2499100"/>
            <a:ext cx="507300" cy="285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</a:rPr>
              <a:t>FLEX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4785425" y="3219675"/>
            <a:ext cx="507300" cy="285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</a:rPr>
              <a:t>GEST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4785425" y="3940250"/>
            <a:ext cx="507300" cy="285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>
                <a:solidFill>
                  <a:schemeClr val="lt1"/>
                </a:solidFill>
              </a:rPr>
              <a:t>EVOL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6" title="720X7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636" y="0"/>
            <a:ext cx="9417636" cy="52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/>
          <p:nvPr/>
        </p:nvSpPr>
        <p:spPr>
          <a:xfrm>
            <a:off x="-273625" y="75"/>
            <a:ext cx="7238100" cy="51435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1256825" y="900000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rgbClr val="FFFFFF"/>
                </a:solidFill>
              </a:rPr>
              <a:t>Obrigado !</a:t>
            </a:r>
            <a:endParaRPr b="1" sz="3900">
              <a:solidFill>
                <a:srgbClr val="FFFFFF"/>
              </a:solidFill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1080000" y="4113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292ED"/>
                </a:solidFill>
              </a:rPr>
              <a:t>Projeto de TCC • 2026</a:t>
            </a:r>
            <a:endParaRPr b="1" sz="1800">
              <a:solidFill>
                <a:srgbClr val="4292ED"/>
              </a:solidFill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1076000" y="934100"/>
            <a:ext cx="59100" cy="1218000"/>
          </a:xfrm>
          <a:prstGeom prst="roundRect">
            <a:avLst>
              <a:gd fmla="val 16667" name="adj"/>
            </a:avLst>
          </a:prstGeom>
          <a:solidFill>
            <a:srgbClr val="4292E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1256825" y="1685100"/>
            <a:ext cx="375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C8C8D2"/>
                </a:solidFill>
              </a:rPr>
              <a:t>Faceplate: LPR acessível, gerenciável e pronto para o futuro.</a:t>
            </a:r>
            <a:endParaRPr sz="150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